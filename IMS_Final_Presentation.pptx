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S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— Inventory Management System  |  Enthrall Foods Pvt Ltd (Invictus)  |  2026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219200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2011680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74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IMG-L1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Manipal Logo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941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MIT logo here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875520" y="182880"/>
            <a:ext cx="2011680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875520" y="274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241280" y="29260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0" y="2926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IMG-L2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966960" y="6492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Logo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66960" y="941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Invictus / Enthrall Foods logo here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914400" y="2834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Platform with AI Demand Forecasting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86000" y="3794760"/>
            <a:ext cx="75895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31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Company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Enthrall Foods Pvt Ltd (Invictus)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931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Institution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184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Manipal — VIII Semester ITR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931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Year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3931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DevPandya1035/IMS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466344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46634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████████ (Fill Your Name)  |  Reg. No: ████████  |  B.Tech CSE / ICT / DSE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15-Minute Presentation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904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099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$1.8T inventory distortion problem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780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78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404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IMS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97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9-module enterprise platform overview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655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3924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6850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layered monolith + tech stack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288536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4531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43799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6725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Products, Warehouse, PO, SO, Invoicing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5276088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4406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" y="53675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Engine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566013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Holt-Winters, EOQ, Safety Stock, ABC/XYZ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325880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14904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14173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17099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Argon2id, JWT RS256, RBAC, Audit Logging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2313432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24780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478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03720" y="2404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Screenshots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03720" y="2697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Analytics, Forecasting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3300984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34655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03720" y="33924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Deployment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03720" y="36850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SLAs, Docker Compose, Production baseline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4288536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44531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03720" y="43799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Conclusion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03720" y="46725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impact, Future 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19456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is Broken at Scale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inventory distortion (IHL Research)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618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 manual tracking errors monthly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2618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5508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lost to stockouts per year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0" y="12344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2618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28116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with no demand forecasting model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Stock Discrepancies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spreadsheets diverge from physical counts. Ghost stock and phantom shortfalls cause fulfilment failures.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256032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3484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Reactive Procurement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294436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forecasting = stockouts happen before POs are raised. Emergency orders at premium prices drain margins.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0" y="256032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Siloed Warehouses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294436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locations run disconnected systems. Partial transfers without atomicity corrupt stock levels permanently.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48056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572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No Audit Trail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8646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traceability for stock changes, pricing edits, or order modifications. Compliance audits become guesswork.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97680" y="448056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34840" y="4572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Manual GST Invoicing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48646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CGST/SGST computed manually per invoice. Errors lead to payment delays, customer disputes, and regulatory risk.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0" y="448056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66760" y="4572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No Expiry Tracking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66760" y="48646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products lack centralised expiry monitoring. Near-expiry items enter sales without clearance — food safety risk.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IMS: One Platform, Nine Integrated Modules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9903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barcode, images, expiry, reorder level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126187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399032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Mgmt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176479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locations, atomic transfers, stock movements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0" y="126187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39903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2396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176479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PENDING→APPROVED→RECEIVED, ₹50K threshold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4495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18211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4787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PENDING→CONFIRMED→SHIPPED→DELIVERED lifecycle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304495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318211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4840" y="354787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GST (9%+9%), PDF export, email dispatch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0" y="304495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6760" y="31821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2396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66760" y="354787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dashboard, ABC/XYZ Pareto, turnover ratios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82803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965192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0120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Engine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533095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Holt-Winters, EOQ, Safety Stock, ROP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97680" y="482803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4965192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Security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34840" y="533095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RS256, Argon2id, 4-role matrix, rate limiting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4828032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66760" y="4965192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6676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823960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66760" y="533095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write-only trail: userId, IP, JSON diff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5440680" y="646480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64648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7200" y="640994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Dashboard screenshot goes here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702552"/>
            <a:ext cx="11247120" cy="-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Dashboard → screenshot full page with KPI cards + charts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Layered Monolith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858000" cy="5394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658368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LAYER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Next.js 16 (App Router)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React 19 + Redux Toolkit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Framer Motion + Chart.js/Recharts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└──────────────┬──────────────────────┘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│ HTTPS REST/JSON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▼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SERVER  (Express.js)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Middlewares  │  Controllers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authenticate │  Parse HTTP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hasPermission│  JSON responses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rateLimiter  │  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validateBody │  ── Services ──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auditLog     │  Tax engine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│  AI Forecasting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│  Stock workflows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└───┬──────────────────┬──────────────┘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Prisma ORM      │ Redis Client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                  ▼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16       Redis 7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(Primary Store)     (Cache / Rate Limit)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S3 (Image Store)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188720"/>
            <a:ext cx="4663440" cy="1298448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0" y="1280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Microservices?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43800" y="1572768"/>
            <a:ext cx="4389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simpler in one DB. No inter-service network overhead. Faster iteration cycles.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2587752"/>
            <a:ext cx="4663440" cy="1298448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26791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Ready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43800" y="2971800"/>
            <a:ext cx="4389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services (API, DB, Redis, Frontend) start with one command. ECS-deployable for scale.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3986784"/>
            <a:ext cx="4663440" cy="1298448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40782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Full Stack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43800" y="4370832"/>
            <a:ext cx="4389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end-to-end. Prisma ORM generates typed SQL client. Zod validates all API inputs.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06640" y="5385816"/>
            <a:ext cx="4663440" cy="1298448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5477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Strategy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43800" y="5769864"/>
            <a:ext cx="4389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cached 5 min (TTL). Rate-limit counters. Graceful degradation to DB on failure.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550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SSR, Turbopack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249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Server/Client Components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64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5295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management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014216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69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3342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glassmorphism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818888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73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5138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562356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6784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Recharts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5943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1143000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160020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16550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3484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ESM, async I/O runtime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97680" y="2404872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24597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34840" y="27249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routing + middleware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97680" y="3209544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3264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v5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34840" y="35295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SQL, migrations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4014216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4069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434840" y="43342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7680" y="4818888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4873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434840" y="5138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password hashing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0" y="562356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56784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34840" y="5943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access tokens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29600" y="1143000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29600" y="160020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16550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36676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ACID-compliant DB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29600" y="2404872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6760" y="24597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366760" y="27249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rate limiting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29600" y="3209544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66760" y="3264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366760" y="35295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deployment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229600" y="4014216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66760" y="4069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366760" y="43342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storage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229600" y="4818888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66760" y="4873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366760" y="5138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schema validation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229600" y="562356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66760" y="56784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366760" y="5943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security headers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— Normalised Relational Schema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303520" cy="5394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502920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Relationship Overview: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──── Role ──── RolePermission ──── Permission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 AuditLog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──── Category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├── InventoryMovement ─── Warehouse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├── PurchaseOrderItem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└── SalesOrderItem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PurchaseOrder ─── Supplier ─── PurchaseOrderItem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SalesOrder ─────── Customer ─── SalesOrderItem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 Invoice ─── Payment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Rules Encoded: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∙ Negative stock: BLOCKED at service layer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∙ PO &gt; ₹50,000: requiresApproval = true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∙ CGST = SGST = 9% applied pre-discount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∙ Expiry alerts: cron daily @ 6AM IST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∙ Transfers: Prisma atomic transactions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0" y="11887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508760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53619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80760" y="17739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email, passwordHash, roleId, failedLoginAttempts, lockedUntil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43600" y="2167128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19456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80760" y="24323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 (UNIQUE), barcode, price, costPrice, quantity, expiryDate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0" y="2825496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85292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80760" y="309067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productId, warehouseId, quantity [UNIQUE(product,warehouse)]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0" y="3483864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511296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inventory_movements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80760" y="3749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productId, quantity (signed), movementType, referenceId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43600" y="4142232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416966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purchase_orders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440740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supplierId, status, totalAmount, requiresApproval, approvedBy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43600" y="4800600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82803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sales_orders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80760" y="50657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customerId, status, subtotal, taxAmount, grandTotal, isPaid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43600" y="5458968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548640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572414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invoiceNumber (INV-YYYYMMDD-XXXX), cgst, sgst, grandTotal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43600" y="6117336"/>
            <a:ext cx="6126480" cy="585216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614476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63825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tableName, operation, userId, ipAddress, changes (JSON)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20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88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Products · Warehouse · PO · SO · Invoicing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AUTH &amp; RBAC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Database-Backed RBAC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93776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hasPermission.middleware.ts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hasPermission = (perm: string) =&gt;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(req, res, next) =&gt; {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req.user;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Admin bypasses all permission checks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(user.role.roleName === 'Admin')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next();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hasPerm = user.role.rolePermissions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.some(rp =&gt; rp.permission.permissionName === perm);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(!hasPerm) {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res.status(403).json({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error: 'Forbidden', required: perm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407408"/>
            <a:ext cx="4937760" cy="256032"/>
          </a:xfrm>
          <a:prstGeom prst="rect">
            <a:avLst/>
          </a:prstGeom>
          <a:solidFill>
            <a:srgbClr val="2563E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407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53312" y="4407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Admin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40864" y="4407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Manager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28416" y="4407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Staff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15968" y="4407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Auditor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4937760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Products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53312" y="4663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40864" y="4663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28416" y="4663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15968" y="4663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919472"/>
            <a:ext cx="4937760" cy="256032"/>
          </a:xfrm>
          <a:prstGeom prst="rect">
            <a:avLst/>
          </a:prstGeom>
          <a:solidFill>
            <a:srgbClr val="1E2D3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19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Purchase Orders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353312" y="4919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40864" y="4919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28416" y="4919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15968" y="4919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5175504"/>
            <a:ext cx="4937760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175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Sales Orders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53312" y="5175504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40864" y="5175504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28416" y="5175504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15968" y="5175504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5431536"/>
            <a:ext cx="4937760" cy="256032"/>
          </a:xfrm>
          <a:prstGeom prst="rect">
            <a:avLst/>
          </a:prstGeom>
          <a:solidFill>
            <a:srgbClr val="1E2D3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5431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Invoices &amp; Reports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353312" y="5431536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40864" y="5431536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28416" y="5431536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15968" y="5431536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5687568"/>
            <a:ext cx="4937760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5687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 Logs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353312" y="5687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40864" y="5687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28416" y="5687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315968" y="5687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5943600"/>
            <a:ext cx="4937760" cy="256032"/>
          </a:xfrm>
          <a:prstGeom prst="rect">
            <a:avLst/>
          </a:prstGeom>
          <a:solidFill>
            <a:srgbClr val="1E2D3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5943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AI Forecasts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353312" y="5943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340864" y="5943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28416" y="5943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315968" y="5943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6199632"/>
            <a:ext cx="4937760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6199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Roles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353312" y="6199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340864" y="6199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28416" y="6199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315968" y="6199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6455664"/>
            <a:ext cx="4937760" cy="256032"/>
          </a:xfrm>
          <a:prstGeom prst="rect">
            <a:avLst/>
          </a:prstGeom>
          <a:solidFill>
            <a:srgbClr val="1E2D3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6455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Stock Movements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353312" y="6455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340864" y="6455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328416" y="6455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315968" y="6455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86400" y="1188720"/>
            <a:ext cx="6400800" cy="539496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54864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8046720" y="129844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46720" y="129844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577840" y="37581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+ User Management Screenshot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577840" y="4050792"/>
            <a:ext cx="6217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http://localhost:3000 (not logged in) → screenshot login page.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login as Admin → Settings → Users → screenshot user list with roles.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02 &amp; 03: PRODUCTS + WAREHOUSE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+ Multi-Warehouse Inventory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 Catalogue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Auto-generated unique SKU per product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8836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EAN-13 / QR barcode support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Category hierarchy for segmentation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35915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Dual pricing: Sale price + Cost price for margin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968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quantity from inventory table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Configurable Reorder Level for alerts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07238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Mandatory Expiry Date for FMCG products (90-day alert)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3101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Image upload → Sharp compression → AWS S3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298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Multi-Warehouse Inventory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627632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627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0" y="16276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goods from PO or manual entry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103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STOCK_OUT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3816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goods from warehouse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0" y="2578608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5786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TRANSFER_OUT/IN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38160" y="25786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inter-warehouse movement (dual records)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3054096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0540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138160" y="305409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count correction (± delta)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743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Location: Zone / Aisle / Rack / Bin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A / 03 / R2 / B04)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5486400" cy="30175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657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468880" y="363016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3630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9011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Page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193792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Sidebar → Products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product list table showing SKU, Name, Category, Price, Stock Qty, Status badges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0" y="3520440"/>
            <a:ext cx="5486400" cy="30175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12648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229600" y="363016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3630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49011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/ Stock Movements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5193792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Inventory → Warehouses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warehouse list with stock quantities. Or go to Inventory → Adjustments to show stock movement history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92608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03 &amp; 04: PO + SO LIFECYCLE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&amp; Sales Orders — State Machines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Purchase Order Lifecycle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29968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5087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67328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0" y="15087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0574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(from PENDING or APPROVED only)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 &gt; ₹50,000 → requiresApproval = true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Stock added ONLY on RECEIVED (not APPROVED)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RECEIVED is terminal — cannot be cancelled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Sales Order Lifecycle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406640" y="15087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16368" y="15087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705088" y="15087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14816" y="15087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14816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003536" y="15087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113264" y="15087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13264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17920" y="20574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from PENDING or CONFIRMED (not after SHIPPED)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0" y="2331720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Confirmation: atomically check &amp; reserve stock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Auto-generates Invoice on CONFIRMED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Cancellation after CONFIRMED → STOCK_IN RETURN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Cannot cancel after SHIPPED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337560"/>
            <a:ext cx="548640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6576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468880" y="344728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3447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8097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Page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102352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Purchases → Purchase Orders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showing PO list with PO Number, Supplier, Status badge (PENDING/APPROVED/RECEIVED), Total Amount. Show mix of statuses.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0" y="3337560"/>
            <a:ext cx="548640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12648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229600" y="344728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3447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48097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 Page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5102352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Sales → Sales Orders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showing SO Number, Customer, Status badge (PENDING/CONFIRMED/SHIPPED/DELIVERED), Grand Total, Payment status column.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GST INVOICING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Invoicing — Auto-Generated on Confirmation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621792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 Calculation Engine (India — Flat 18%)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Value(i)     = Quantity × Unit Price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Taxable Value(i) = Net Value − Discount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CGST(i)          = Taxable Value × 0.09   (9%)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SGST(i)          = Taxable Value × 0.09   (9%)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Total(i)    = Taxable Value + CGST + SGST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 Total      = Σ Line Total(i)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ID Format:  INV-YYYYMMDD-XXXX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Auto-generated on:  Sales Order → CONFIRMED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3547872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66160" y="3547872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Received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5230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(PARTIAL)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484632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Passed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5230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(OVERDUE)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6217920" cy="2286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918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Lifecycle: Auto-generated → PAID / PARTIAL / OVERDUE (auto-reminder email on overdue)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66560" y="1207008"/>
            <a:ext cx="5303520" cy="534924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766560" y="33787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778240" y="131673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1316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0" y="37536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Detail Page + PDF Preview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046220"/>
            <a:ext cx="5120640" cy="2446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Invoices → click any invoice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Invoice detail page showing: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Invoice Number (INV-YYYYMMDD-XXXX)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details &amp; line items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CGST / SGST breakdown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Grand Total + Payment status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PDF preview button exists → screenshot the PDF modal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20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88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Engine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· EOQ · Safety Stock · ABC/XYZ Pareto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ENGINE: HOLT-WINTERS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Exponential Smoothing — Level + Trend + Seasonality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6400800" cy="5349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6126480" cy="516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holt-winters.ts — Core Forecasting Algorithm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holtwinters(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number[],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alpha: number,   // α: Level smoothing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beta: number,    // β: Trend smoothing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gamma: number,   // γ: Seasonality smoothing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period: number,  // seasonal period (e.g., 7 = weekly)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horizon: number  // forecast steps ahead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number[] {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Initialise Level, Trend, Seasonal indices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 = data[0];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 = (data[period] - data[0]) / period;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S = data.map((v, i) =&gt; v / (data[i % period] || 1));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forecast: number[] = [];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t = 0; t &lt; data.length + horizon; t++) {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obs = data[t] ?? null;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(obs !== null) {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prevL = L;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Update equations (Winters multiplicative model)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 = alpha * (obs - S[t % period]) + (1 - alpha) * (L + T);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 = beta  * (L - prevL)           + (1 - beta)  * T;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S[t % period] = gamma * (obs / L) + (1 - gamma) * S[t % period];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h-step ahead point forecast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 = t &gt;= data.length ? t - data.length + 1 : 1;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forecast.push((L + h * T) * S[(t + h) % period]);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forecast;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95160" y="1207008"/>
            <a:ext cx="502920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1298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— Level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591056"/>
            <a:ext cx="4754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value of the series. High α = more responsive to recent 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95160" y="2551176"/>
            <a:ext cx="502920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26426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— Trend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2935224"/>
            <a:ext cx="4754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over time (upward or downward slope). High β = trend adapts faster.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95160" y="3895344"/>
            <a:ext cx="502920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9867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— Seasonality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4279392"/>
            <a:ext cx="4754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repeating patterns (weekly, monthly). High γ = seasonality adapts faster.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95160" y="5239512"/>
            <a:ext cx="502920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5330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5623560"/>
            <a:ext cx="4754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≤ 15% on 30-day forward horizon. Real-time MAPE + RMSE displayed in UI.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ENGINE: EOQ + PARETO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· Safety Stock · ROP · ABC/XYZ Segmentation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94360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Economic Order Quantity (EOQ):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EOQ = √( (2 × Annual Demand × Ordering Cost)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 Holding Cost per Unit 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Stock: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 = (Max Daily Sales × Max Lead Time)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− (Avg Daily Sales × Avg Lead Time)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Reorder Point (ROP):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ROP = (Avg Daily Sales × Lead Time) + Safety Stock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Urgency Classification: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🔴 CRITICAL  → Current Stock &lt; Safety Stock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🟡 WARNING   → Stock &lt; Reorder Level (≥ Safety Stock)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🟢 OPTIMAL   → Stock ≥ Reorder Level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36758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ABC/XYZ Pareto Segmentation: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5943600" cy="4937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977640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34440" y="3977640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57400" y="3977640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80360" y="3977640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4489704"/>
            <a:ext cx="5943600" cy="4937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4489704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A-Class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4489704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4489704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4489704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control · AI priority · frequent reorder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5001768"/>
            <a:ext cx="5943600" cy="493776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5001768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B-Class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5001768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57400" y="5001768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5001768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cycle · moderate safety stock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5513832"/>
            <a:ext cx="5943600" cy="4937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5513832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C-Class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5513832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7400" y="5513832"/>
            <a:ext cx="731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80360" y="5513832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oversight · bulk ordering · lean stock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1207008"/>
            <a:ext cx="5486400" cy="534924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492240" y="33787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595360" y="131673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1316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37536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Dashboard — Full Screenshot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4046220"/>
            <a:ext cx="5303520" cy="2446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Sidebar → Forecasting → AI Forecasting tab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FULL forecasting page showing: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Holt-Winters chart (actual + forecast + confidence band)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 / β / γ sliders below the chart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MAPE and RMSE accuracy metrics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 sliders slightly to make chart active before screenshotting.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Forecasting → EOQ tab → screenshot EOQ cost curve chart.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ANALYTICS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 — Redis-Cached KPIs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374904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98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 Value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(cost × qty) all warehouses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207008"/>
            <a:ext cx="374904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1298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591056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/ Avg Inventory (annualised)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207008"/>
            <a:ext cx="374904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298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66760" y="1591056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fulfilled / Total × 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70048"/>
            <a:ext cx="374904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761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054096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with stockout / Total SKUs × 100%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2670048"/>
            <a:ext cx="374904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2761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 Hand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3054096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Inventory / Daily COGS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0" y="2670048"/>
            <a:ext cx="374904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2761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3054096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(Revenue − COGS) / Revenue × 100%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206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Visualisations:  Pareto Chart  ·  Stock Movement Trend  ·  Invoice Status Pie  ·  Category Revenue Breakdown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553712"/>
            <a:ext cx="11430000" cy="201168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65760" y="505663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40680" y="4663440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46634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543153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Screenshot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724144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Sidebar → Analytics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full Analytics page: KPI stat cards (top row) + stock movement chart + ABC/XYZ Pareto chart. If there are tabs (Overview / ABC / Turnover), screenshot the main Overview tab.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4-Layer Security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621792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5943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Authentication Flow: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            API Server           Database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               │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POST /auth/login ──►│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               ├── findUser ────────►│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               │◄── user+perms ──────│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               ├── argon2.verify()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│◄── accessToken(15m) ─┤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refreshToken(7d)  │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               │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GET /api/products ─►│ (Bearer: token)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│◄── { products } ─────┤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               │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│◄── 401 (expired) ────┤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POST /auth/refresh ►│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│◄── { new token } ────┤                    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[retry] ──────────►│                    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452628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Argon2id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4910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MB memory · 3 iterations · 2 threads.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recommended. GPU brute-force resistant.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66160" y="452628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JWT RS256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4910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token: 15 min. Refresh token: 7 days.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silently refreshes on 401.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66928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Rate Limiting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053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req/15min (standard). 10 req/15min (auth).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sliding window. Account lockout after 5 fails.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566928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Audit Logging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6053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Write-only immutable log. Every mutation: userId, IP,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operation, JSON diff { before, after }.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207008"/>
            <a:ext cx="5303520" cy="534924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766560" y="33787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778240" y="131673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1316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37536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Page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4046220"/>
            <a:ext cx="5120640" cy="2446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Admin or Auditor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Sidebar → Audit Logs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audit log table showing: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Timestamp, User, Action (CREATE/UPDATE/DELETE)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Name, Record ID, IP Address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show rows with different operations.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9-Step Walkthrough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53619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13533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66420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→ admin@ims.com / Admin@123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58775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2404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271576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(Total Products, Stock Value, Low Stock alerts) + charts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6393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76732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Add New → fill SKU, expiry date, reorder level, upload image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41655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46908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690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" y="4507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481888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→ Adjustments → Stock In → select warehouse + quantity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546811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574243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5742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" y="55595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" y="587044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→ New PO → add supplier + items → total &gt; ₹50K → needs approval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126187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153619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31152" y="13533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Confirm SO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31152" y="166420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→ New SO → confirm → auto-reserves stock + generates invoice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09360" y="231343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587752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31152" y="2404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Invoice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31152" y="271576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→ view auto-generated GST invoice → PDF preview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09360" y="336499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9088" y="3639312"/>
            <a:ext cx="384048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31152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31152" y="376732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→ adjust α/β/γ sliders → live MAPE update + EOQ chart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09360" y="4416552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19088" y="469087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4690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31152" y="4507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31152" y="481888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Audit Logs → see every operation traced with userId + IP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09360" y="6400800"/>
            <a:ext cx="566928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64008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Credentials:  admin@ims.com / Admin@123  |  manager@ims.com / Manager@123  |  http://localhost:3000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Performance SLAs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858000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0916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6858000" cy="457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984248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9842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 (KPI cards)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54680" y="19842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 p95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09160" y="19842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(5-min TTL)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459736"/>
            <a:ext cx="6858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459736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459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Ops (Stock, Orders)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54680" y="24597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ms p95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09160" y="24597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PostgreSQL writes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935224"/>
            <a:ext cx="6858000" cy="457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935224"/>
            <a:ext cx="54864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2935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Engine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54680" y="29352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1,500 ms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9160" y="29352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TS + Redis cache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410712"/>
            <a:ext cx="6858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41071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4107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54680" y="34107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2,000 ms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3410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DB aggregation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6858000" cy="457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886200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Import (1,000 products)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154680" y="3886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seconds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Prisma upsert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361688"/>
            <a:ext cx="6858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" y="4361688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" y="4361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Throughput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54680" y="4361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RPS/container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09160" y="4361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horizontally scalable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837176"/>
            <a:ext cx="6858000" cy="457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4837176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" y="48371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154680" y="48371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09160" y="48371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restart + health checks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06640" y="1207008"/>
            <a:ext cx="466344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1298448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docker-compose.yml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postgres: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postgres:16-alpine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POSTGRES_DB: ims_db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POSTGRES_PASSWORD: ${DB_PASS}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redis:7-alpine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./backend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["4000:4000"]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[postgres, redis]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DATABASE_URL: postgresql://...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frontend: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./frontend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["3000:3000"]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[backend]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06640" y="4846320"/>
            <a:ext cx="4663440" cy="1709928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7406640" y="51983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9098280" y="495604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8280" y="495604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98080" y="55732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Terminal Output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498080" y="5865876"/>
            <a:ext cx="448056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→ cd to IMS folder → run: docker-compose 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multi-service coloured log output.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— Key Screens (Add Screenshots Here)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48640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9842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68880" y="131673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16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KPI Cards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Admin →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page: stat cards + charts visible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1207008"/>
            <a:ext cx="548640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126480" y="19842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0" y="131673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316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23591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Page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651760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→ Products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table: SKU, Name, Category, Stock, Status badges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913632"/>
            <a:ext cx="5486400" cy="265176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468880" y="4023360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40233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51114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Chart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404104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→ Forecasting → AI Forecasting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chart + α/β/γ sliders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3913632"/>
            <a:ext cx="5486400" cy="265176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12648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0233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0" y="51114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5404104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→ Analytics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+ Pareto chart + Stock movement trend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— More Screens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3657600" cy="265176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2029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54480" y="131673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316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Detail / PDF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→ any invoice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page: GST breakdown, grand total, status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06240" y="1207008"/>
            <a:ext cx="3657600" cy="265176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206240" y="2029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94960" y="131673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316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0" y="2404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26974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→ Purchase Orders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list with PENDING/APPROVED/RECEIVED status badges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46720" y="1207008"/>
            <a:ext cx="3931920" cy="265176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046720" y="2029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372600" y="1316736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1316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38160" y="2404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2697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→ Sales Orders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list with lifecycle status + payment status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005072"/>
            <a:ext cx="365760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65760" y="4782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554480" y="4114800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41148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IMG-19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5157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Page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449824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→ Warehouses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list with stock quantities per location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06240" y="4005072"/>
            <a:ext cx="365760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206240" y="4782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394960" y="4114800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41148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IMG-20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97680" y="5157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0" y="5449824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→ Audit Logs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 table: User, Action, Table, IP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46720" y="4005072"/>
            <a:ext cx="393192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8046720" y="47823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9372600" y="4114800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72600" y="41148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IMG-21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38160" y="5157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Form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5449824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Add New Product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SKU, barcode, expiry, image upload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and Societal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Reduces Food Waste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demand forecasting directly reduces overproduction and overstocking — two primary contributors to food waste in FMCG supply chains.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Lower Carbon Footprint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64592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Reorder Point (ROP) calculations minimise emergency procurement via carbon-intensive express freight shipments.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26187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Paperless Operations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66760" y="164592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invoicing and write-only audit logging replaces printed records — reducing paper consumption across the supply chain.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Democratises Technology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096512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gives SMEs access to enterprise-grade inventory intelligence previously available only to large corporations with SAP/Oracle budgets.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3712464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 Regional Economic Growth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4096512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regional distributors and FMCG companies (like Invictus) with supply chain transparency, promoting equitable business growth.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0" y="3712464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Food Safety Compliance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4096512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FMCG expiry tracking and near-expiry alerts reduce the risk of expired products entering the sales pipeline — protecting consumers.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6355080"/>
            <a:ext cx="1143000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"IMS reduces overproduction, minimises emergency freight, eliminates paper records, and democratises enterprise inventory intelligence for regional SMEs." (100-word ITR environmental statement)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— Phase 2 &amp; 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Near Term (Q1 2027)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Multi-currency support with real-time forex rates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Point-of-Sale (POS) module for retail counter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02736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694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Mobile-first React Native warehouse scanner app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WhatsApp/SMS reorder alerts for staff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5541264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56327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Barcode scanner integration (hardware + web)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234440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Medium Term (Q3 2027)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7680" y="1664208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3484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IoT / RFID tag integration for real-time bin scanning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2633472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34840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GPT-4 powered natural language inventory queries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602736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34840" y="3694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Customer-facing order tracking portal (white-labelled)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4572000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3484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Multi-tenant SaaS with isolated DB per tenant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97680" y="5541264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34840" y="56327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Advanced route optimisation for last-mile delivery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1234440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Long Term (2028+)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29600" y="1664208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6676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Manufacturing / Work-in-Progress (WIP) tracking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2633472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66760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Freight forwarding and customs management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3602736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66760" y="3694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Carbon footprint reporting per order / shipment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4572000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36676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AI-powered supplier selection and price negotiation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0" y="5541264"/>
            <a:ext cx="374904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66760" y="56327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ERP integration layer (SAP / Tally / QuickBooks)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/ IET MAPPING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Outcome Mapping — CSE/ICT/DSE 4291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CO–PO Articulation (Scale: 1=Low, 2=Med, 3=High, —=None):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74320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08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0896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70332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29768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89204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PO4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48640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PO5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08076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PO6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67512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PO7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726948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PO8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86384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PO9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845820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PO10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905256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PO11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964692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964692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PSO1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024128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1024128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PSO2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0835640" y="1508760"/>
            <a:ext cx="59436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10835640" y="15087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PSO3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65760" y="1865376"/>
            <a:ext cx="27432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1865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CO1: Org. Structure &amp; Practices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10896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0332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0332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29768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9204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8640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8076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7512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26948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86384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45820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5820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05256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5256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64692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4692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24128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4128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0835640" y="1865376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35640" y="186537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65760" y="2340864"/>
            <a:ext cx="274320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2340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CO2: Real-world Problem Analysis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10896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0896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70332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0332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29768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9768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89204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9204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48640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08076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8076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67512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7512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26948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6948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86384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6384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45820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5820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905256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05256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64692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4692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024128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24128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0835640" y="2340864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835640" y="234086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65760" y="2816352"/>
            <a:ext cx="27432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5760" y="2816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CO3: Apply Programming Techniques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310896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10896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70332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0332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29768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29768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89204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89204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48640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8640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08076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08076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67512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7512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26948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26948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86384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86384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845820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45820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905256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05256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964692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64692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1024128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24128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0835640" y="2816352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835640" y="2816352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65760" y="3291840"/>
            <a:ext cx="274320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657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CO4: Modern Tools &amp; Frameworks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310896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10896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70332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70332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429768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29768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489204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89204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548640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48640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608076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08076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667512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67512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726948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6948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786384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86384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45820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45820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905256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05256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964692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64692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1024128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24128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10835640" y="3291840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0835640" y="3291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365760" y="3767328"/>
            <a:ext cx="27432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65760" y="3767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CO5: Design &amp; Implement Solutions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310896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10896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370332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70332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429768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29768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489204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89204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548640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48640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608076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608076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667512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67512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726948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26948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786384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86384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845820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45820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905256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905256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964692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964692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1024128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024128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10835640" y="3767328"/>
            <a:ext cx="5943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0835640" y="3767328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365760" y="4242816"/>
            <a:ext cx="274320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65760" y="42428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CO6: Teamwork &amp; Ethics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310896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10896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370332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70332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429768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429768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489204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89204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548640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48640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608076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608076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667512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67512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726948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726948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786384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786384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7" name="Shape 205"/>
          <p:cNvSpPr/>
          <p:nvPr/>
        </p:nvSpPr>
        <p:spPr>
          <a:xfrm>
            <a:off x="845820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845820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905256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905256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11" name="Shape 209"/>
          <p:cNvSpPr/>
          <p:nvPr/>
        </p:nvSpPr>
        <p:spPr>
          <a:xfrm>
            <a:off x="964692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64692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1024128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024128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10835640" y="4242816"/>
            <a:ext cx="594360" cy="457200"/>
          </a:xfrm>
          <a:prstGeom prst="rect">
            <a:avLst/>
          </a:prstGeom>
          <a:solidFill>
            <a:srgbClr val="1E2D3D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0835640" y="4242816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365760" y="4718304"/>
            <a:ext cx="274320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65760" y="4718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Articulation</a:t>
            </a:r>
            <a:endParaRPr lang="en-US" sz="700" dirty="0"/>
          </a:p>
        </p:txBody>
      </p:sp>
      <p:sp>
        <p:nvSpPr>
          <p:cNvPr id="219" name="Shape 217"/>
          <p:cNvSpPr/>
          <p:nvPr/>
        </p:nvSpPr>
        <p:spPr>
          <a:xfrm>
            <a:off x="310896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310896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21" name="Shape 219"/>
          <p:cNvSpPr/>
          <p:nvPr/>
        </p:nvSpPr>
        <p:spPr>
          <a:xfrm>
            <a:off x="370332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370332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23" name="Shape 221"/>
          <p:cNvSpPr/>
          <p:nvPr/>
        </p:nvSpPr>
        <p:spPr>
          <a:xfrm>
            <a:off x="429768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29768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25" name="Shape 223"/>
          <p:cNvSpPr/>
          <p:nvPr/>
        </p:nvSpPr>
        <p:spPr>
          <a:xfrm>
            <a:off x="489204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489204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548640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548640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800" dirty="0"/>
          </a:p>
        </p:txBody>
      </p:sp>
      <p:sp>
        <p:nvSpPr>
          <p:cNvPr id="229" name="Shape 227"/>
          <p:cNvSpPr/>
          <p:nvPr/>
        </p:nvSpPr>
        <p:spPr>
          <a:xfrm>
            <a:off x="608076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08076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667512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667512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3" name="Shape 231"/>
          <p:cNvSpPr/>
          <p:nvPr/>
        </p:nvSpPr>
        <p:spPr>
          <a:xfrm>
            <a:off x="726948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726948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</a:t>
            </a:r>
            <a:endParaRPr lang="en-US" sz="800" dirty="0"/>
          </a:p>
        </p:txBody>
      </p:sp>
      <p:sp>
        <p:nvSpPr>
          <p:cNvPr id="235" name="Shape 233"/>
          <p:cNvSpPr/>
          <p:nvPr/>
        </p:nvSpPr>
        <p:spPr>
          <a:xfrm>
            <a:off x="786384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786384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00" dirty="0"/>
          </a:p>
        </p:txBody>
      </p:sp>
      <p:sp>
        <p:nvSpPr>
          <p:cNvPr id="237" name="Shape 235"/>
          <p:cNvSpPr/>
          <p:nvPr/>
        </p:nvSpPr>
        <p:spPr>
          <a:xfrm>
            <a:off x="845820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845820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</a:t>
            </a:r>
            <a:endParaRPr lang="en-US" sz="800" dirty="0"/>
          </a:p>
        </p:txBody>
      </p:sp>
      <p:sp>
        <p:nvSpPr>
          <p:cNvPr id="239" name="Shape 237"/>
          <p:cNvSpPr/>
          <p:nvPr/>
        </p:nvSpPr>
        <p:spPr>
          <a:xfrm>
            <a:off x="905256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905256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800" dirty="0"/>
          </a:p>
        </p:txBody>
      </p:sp>
      <p:sp>
        <p:nvSpPr>
          <p:cNvPr id="241" name="Shape 239"/>
          <p:cNvSpPr/>
          <p:nvPr/>
        </p:nvSpPr>
        <p:spPr>
          <a:xfrm>
            <a:off x="964692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964692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3" name="Shape 241"/>
          <p:cNvSpPr/>
          <p:nvPr/>
        </p:nvSpPr>
        <p:spPr>
          <a:xfrm>
            <a:off x="1024128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1024128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5" name="Shape 243"/>
          <p:cNvSpPr/>
          <p:nvPr/>
        </p:nvSpPr>
        <p:spPr>
          <a:xfrm>
            <a:off x="10835640" y="4718304"/>
            <a:ext cx="594360" cy="457200"/>
          </a:xfrm>
          <a:prstGeom prst="rect">
            <a:avLst/>
          </a:prstGeom>
          <a:solidFill>
            <a:srgbClr val="1E3A5F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0835640" y="4718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7" name="Text 245"/>
          <p:cNvSpPr/>
          <p:nvPr/>
        </p:nvSpPr>
        <p:spPr>
          <a:xfrm>
            <a:off x="365760" y="5394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PSO1: Algorithms &amp; Programming  ·  PSO2: Software Systems &amp; Databases  ·  PSO3: AI/ML, Security &amp; Data Science</a:t>
            </a:r>
            <a:endParaRPr lang="en-US" sz="900" dirty="0"/>
          </a:p>
        </p:txBody>
      </p:sp>
      <p:sp>
        <p:nvSpPr>
          <p:cNvPr id="248" name="Text 246"/>
          <p:cNvSpPr/>
          <p:nvPr/>
        </p:nvSpPr>
        <p:spPr>
          <a:xfrm>
            <a:off x="365760" y="57150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IET-AHEP Mapping Highlights: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365760" y="5989320"/>
            <a:ext cx="3749040" cy="301752"/>
          </a:xfrm>
          <a:prstGeom prst="roundRect">
            <a:avLst>
              <a:gd name="adj" fmla="val 15152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457200" y="598932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Maths &amp; Science: Applied via Holt-Winters mathematical model (α, β, γ), EOQ formula, and statistical accuracy metrics (MAPE, RMSE).</a:t>
            </a:r>
            <a:endParaRPr lang="en-US" sz="650" dirty="0"/>
          </a:p>
        </p:txBody>
      </p:sp>
      <p:sp>
        <p:nvSpPr>
          <p:cNvPr id="251" name="Shape 249"/>
          <p:cNvSpPr/>
          <p:nvPr/>
        </p:nvSpPr>
        <p:spPr>
          <a:xfrm>
            <a:off x="4297680" y="5989320"/>
            <a:ext cx="3749040" cy="301752"/>
          </a:xfrm>
          <a:prstGeom prst="roundRect">
            <a:avLst>
              <a:gd name="adj" fmla="val 15152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4389120" y="598932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Analytical Techniques: Selected and applied: Exponential Smoothing, EOQ optimisation, ABC/XYZ segmentation, Redis caching strategy.</a:t>
            </a:r>
            <a:endParaRPr lang="en-US" sz="650" dirty="0"/>
          </a:p>
        </p:txBody>
      </p:sp>
      <p:sp>
        <p:nvSpPr>
          <p:cNvPr id="253" name="Shape 251"/>
          <p:cNvSpPr/>
          <p:nvPr/>
        </p:nvSpPr>
        <p:spPr>
          <a:xfrm>
            <a:off x="8229600" y="5989320"/>
            <a:ext cx="3749040" cy="301752"/>
          </a:xfrm>
          <a:prstGeom prst="roundRect">
            <a:avLst>
              <a:gd name="adj" fmla="val 15152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8321040" y="598932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— Systems Approach: IMS as decoupled layered monolith: Prisma transactions ensure multi-module ACID compliance end-to-end.</a:t>
            </a:r>
            <a:endParaRPr lang="en-US" sz="650" dirty="0"/>
          </a:p>
        </p:txBody>
      </p:sp>
      <p:sp>
        <p:nvSpPr>
          <p:cNvPr id="255" name="Shape 253"/>
          <p:cNvSpPr/>
          <p:nvPr/>
        </p:nvSpPr>
        <p:spPr>
          <a:xfrm>
            <a:off x="365760" y="6309360"/>
            <a:ext cx="3749040" cy="301752"/>
          </a:xfrm>
          <a:prstGeom prst="roundRect">
            <a:avLst>
              <a:gd name="adj" fmla="val 15152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57200" y="630936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C7/C8 — Ethics &amp; Impact: Environmental impact: reduces food waste and freight carbon. Ethical: GDPR-ready RBAC, immutable audit trail.</a:t>
            </a:r>
            <a:endParaRPr lang="en-US" sz="650" dirty="0"/>
          </a:p>
        </p:txBody>
      </p:sp>
      <p:sp>
        <p:nvSpPr>
          <p:cNvPr id="257" name="Shape 255"/>
          <p:cNvSpPr/>
          <p:nvPr/>
        </p:nvSpPr>
        <p:spPr>
          <a:xfrm>
            <a:off x="4297680" y="6309360"/>
            <a:ext cx="3749040" cy="301752"/>
          </a:xfrm>
          <a:prstGeom prst="roundRect">
            <a:avLst>
              <a:gd name="adj" fmla="val 15152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4389120" y="630936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C15 — Project Mgmt: Git version control, Docker Compose deployment, Prisma migrations, and documented SLAs / performance budgets.</a:t>
            </a:r>
            <a:endParaRPr lang="en-US" sz="650" dirty="0"/>
          </a:p>
        </p:txBody>
      </p:sp>
      <p:sp>
        <p:nvSpPr>
          <p:cNvPr id="259" name="Shape 257"/>
          <p:cNvSpPr/>
          <p:nvPr/>
        </p:nvSpPr>
        <p:spPr>
          <a:xfrm>
            <a:off x="8229600" y="6309360"/>
            <a:ext cx="3749040" cy="301752"/>
          </a:xfrm>
          <a:prstGeom prst="roundRect">
            <a:avLst>
              <a:gd name="adj" fmla="val 15152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8321040" y="630936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C18 — Lifelong Learning: Acquired Next.js 16, React 19, Argon2id, Holt-Winters, EOQ — all industry-current technologies during training.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Challenges Overcome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Next.js SSR Hydration Mismatch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 from localStorage caused server/client HTML mismatch on first render.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039112"/>
            <a:ext cx="164592" cy="77724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39112"/>
            <a:ext cx="5166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Implemented mounted state guard in Sidebar.tsx, TopBar.tsx, and RoleGuard.tsx — components only render auth-dependent UI after useEffect fires on client.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09360" y="1261872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3350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Atomic Inter-Warehouse Transfers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inventory records must update simultaneously — partial writes would corrupt stock totals.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46520" y="2039112"/>
            <a:ext cx="164592" cy="77724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039112"/>
            <a:ext cx="5166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Wrapped TRANSFER_OUT + TRANSFER_IN in a single Prisma transaction. If either write fails, both roll back.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638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Holt-Winters in TypeScript (No Python)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Holt-Winters implementations assume Python/NumPy. We needed browser-native JS.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867912"/>
            <a:ext cx="164592" cy="77724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867912"/>
            <a:ext cx="5166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Re-implemented the Winters multiplicative model from scratch in TypeScript. Runs entirely client-side for zero-latency real-time slider interaction.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3090672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1638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GST Compliance with Discounts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3474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GST law requires discounts applied before tax. Many systems apply them after, causing incorrect tax amounts.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867912"/>
            <a:ext cx="164592" cy="77724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3867912"/>
            <a:ext cx="5166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Tax engine calculates Taxable Value = Net Value − Discount first, then applies CGST 9% + SGST 9% on Taxable Value only.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919472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9926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Redis Graceful Degradation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5303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should not crash if Redis is unavailable. Cache failures must be transparent to users.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5696712"/>
            <a:ext cx="164592" cy="77724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696712"/>
            <a:ext cx="5166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Three-layer fallback: Redis cache → in-memory application cache → direct PostgreSQL query. All layers handled with try/catch without surface-level errors.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4919472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9926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RBAC Without UI Gating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303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UI buttons is not enough — API endpoints must also enforce permissions independently.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46520" y="5696712"/>
            <a:ext cx="164592" cy="77724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5696712"/>
            <a:ext cx="5166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hasPermission middleware enforces permissions at the route level. Admin bypass at middleware layer. Database-backed — not hard-coded role checks.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IMS: Enterprise Inventory Intelligence, Built from Scratch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SaaS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Express.js + PostgreSQL 16 + Redis 7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Dockerised, one-command deployment, GitHub public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Integrated Modules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64592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Warehouse · PO · SO · Invoicing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AI Forecasting · RBAC · Audit Log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26187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66760" y="164592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MAPE ≤ 15% · EOQ optimiser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ABC/XYZ Pareto · Safety Stock · ROP calculator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63931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30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· JWT RS256 · RBAC middleware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rate-limit · Immutable audit trail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363931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3730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402336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 dashboard reads (p95)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1,500ms AI forecasting · 99.9% uptime SLA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0" y="3639312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3730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Ready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402336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invoicing · Multi-warehouse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tracking · FMCG-optimised for Invictus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6144768"/>
            <a:ext cx="114300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14476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Acquired During Training:  TypeScript Full-Stack  ·  Docker Containerisation  ·  Prisma ORM  ·  AI/ML Forecasting  ·  JWT Security  ·  Redis Caching  ·  Indian GST Compliance  ·  RBAC Design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(IEEE Format)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Gardner, "Exponential Smoothing: The State of the Art," Journal of Forecasting, vol. 4, no. 1, pp. 1–28, 1985.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94767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C. C. Holt, "Forecasting Seasonals and Trends by Exponentially Weighted Moving Averages," Int. J. Forecasting, vol. 20, no. 1, pp. 5–10, 2004.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66090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P. R. Winters, "Forecasting Sales by Exponentially Weighted Moving Averages," Management Science, vol. 6, no. 3, pp. 324–342, 1960.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33741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Vercel Inc., "Next.js 16 Documentation — App Router," [Online]. Available: https://nextjs.org/docs (accessed Aug. 2026).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408736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Prisma Data Inc., "Prisma ORM v5 Documentation," [Online]. Available: https://www.prisma.io/docs (accessed Aug. 2026).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OWASP Foundation, "Password Storage Cheat Sheet — Argon2id," [Online]. Available: https://cheatsheetseries.owasp.org (accessed Aug. 2026).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5138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M. B. Jones, J. Bradley, N. Sakimura, "JSON Web Token (JWT)," IETF RFC 7519, May 2015.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09360" y="1234440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PostgreSQL Global Development Group, "PostgreSQL 16 Documentation," https://www.postgresql.org/docs/16/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0" y="194767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Central Board of Indirect Taxes and Customs, "Goods and Services Tax (GST) — Overview," Govt. of India. https://www.cbic.gov.in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9360" y="266090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IHL Group, "Inventory Distortion: The $1.8 Trillion Problem," IHL Research, 2023.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09360" y="33741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Docker Inc., "Docker Compose Documentation," https://docs.docker.com/compose/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09360" y="408736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Redis Ltd., "Redis 7 Commands and Configuration," https://redis.io/docs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9360" y="4800600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W3C, "Web Content Accessibility Guidelines (WCAG) 2.1," W3C Recommendation, Jun. 2018.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09360" y="55138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D. Pandya, "IMS — Inventory Management System," GitHub Repository, 2026. https://github.com/DevPandya1035/IMS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219200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745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474720"/>
            <a:ext cx="75895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3075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Student:  ████████ (Fill Name)  |  Reg: ████████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Company:  Enthrall Foods Pvt Ltd (Brand: Invictus), Ahmedabad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49884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Institution:  MIT Manipal — VIII Semester ITR (CSE/ICT/DSE 4291)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88289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GitHub:  github.com/DevPandya1035/IMS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01368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1368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54096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306824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6824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59552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12280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065008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65008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317736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17736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570464" y="54681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70464" y="54681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91440"/>
            <a:ext cx="11430000" cy="1417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65760" y="2971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440680" y="201168"/>
            <a:ext cx="12801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01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IMG-L3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67208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Dashboard Screenshot (Optional — adds visual impact to closing slide)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964692"/>
            <a:ext cx="11247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paste a wide screenshot of the IMS dashboard here as a banner on the closing slide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2026-08-26T18:59:02Z</dcterms:created>
  <dcterms:modified xsi:type="dcterms:W3CDTF">2026-08-26T18:59:02Z</dcterms:modified>
</cp:coreProperties>
</file>